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4" r:id="rId8"/>
    <p:sldId id="263" r:id="rId9"/>
    <p:sldId id="265" r:id="rId10"/>
    <p:sldId id="267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5521DCC-B725-4DD2-8F11-B662F3440DCE}" v="34" dt="2025-12-09T06:26:57.14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 snapToGrid="0">
      <p:cViewPr varScale="1">
        <p:scale>
          <a:sx n="91" d="100"/>
          <a:sy n="91" d="100"/>
        </p:scale>
        <p:origin x="37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6492A-D0EA-447E-8B5F-E78DE43296BB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E7D79-6D66-4D82-8AA5-29DA34615798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10349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6492A-D0EA-447E-8B5F-E78DE43296BB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E7D79-6D66-4D82-8AA5-29DA346157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77427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6492A-D0EA-447E-8B5F-E78DE43296BB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E7D79-6D66-4D82-8AA5-29DA346157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20077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6492A-D0EA-447E-8B5F-E78DE43296BB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E7D79-6D66-4D82-8AA5-29DA346157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29258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6492A-D0EA-447E-8B5F-E78DE43296BB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E7D79-6D66-4D82-8AA5-29DA346157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5836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6492A-D0EA-447E-8B5F-E78DE43296BB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E7D79-6D66-4D82-8AA5-29DA346157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69279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6492A-D0EA-447E-8B5F-E78DE43296BB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E7D79-6D66-4D82-8AA5-29DA346157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639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6492A-D0EA-447E-8B5F-E78DE43296BB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E7D79-6D66-4D82-8AA5-29DA346157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98079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6492A-D0EA-447E-8B5F-E78DE43296BB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E7D79-6D66-4D82-8AA5-29DA346157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72776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6492A-D0EA-447E-8B5F-E78DE43296BB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E7D79-6D66-4D82-8AA5-29DA346157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32196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6492A-D0EA-447E-8B5F-E78DE43296BB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E7D79-6D66-4D82-8AA5-29DA346157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63655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6492A-D0EA-447E-8B5F-E78DE43296BB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E7D79-6D66-4D82-8AA5-29DA34615798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277592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6492A-D0EA-447E-8B5F-E78DE43296BB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E7D79-6D66-4D82-8AA5-29DA346157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69814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6492A-D0EA-447E-8B5F-E78DE43296BB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E7D79-6D66-4D82-8AA5-29DA34615798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226639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6492A-D0EA-447E-8B5F-E78DE43296BB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E7D79-6D66-4D82-8AA5-29DA346157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30076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6492A-D0EA-447E-8B5F-E78DE43296BB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E7D79-6D66-4D82-8AA5-29DA346157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03546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6492A-D0EA-447E-8B5F-E78DE43296BB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E7D79-6D66-4D82-8AA5-29DA346157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57899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C016492A-D0EA-447E-8B5F-E78DE43296BB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9FBE7D79-6D66-4D82-8AA5-29DA346157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764493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83BD5-93FE-F768-E77A-F7EAD6197D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8653" y="327171"/>
            <a:ext cx="8001000" cy="1761688"/>
          </a:xfrm>
        </p:spPr>
        <p:txBody>
          <a:bodyPr/>
          <a:lstStyle/>
          <a:p>
            <a:pPr algn="ctr"/>
            <a:r>
              <a:rPr lang="en-US" dirty="0"/>
              <a:t>PYTHON REINFORSEMENT PROJECT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71E150-9712-8C11-3BFA-61C17F46238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>
                <a:latin typeface="Arial Black" panose="020B0A04020102020204" pitchFamily="34" charset="0"/>
              </a:rPr>
              <a:t>ARUN BALAJE</a:t>
            </a:r>
          </a:p>
          <a:p>
            <a:pPr algn="ctr"/>
            <a:r>
              <a:rPr lang="en-US" sz="4000" dirty="0">
                <a:latin typeface="Arial Black" panose="020B0A04020102020204" pitchFamily="34" charset="0"/>
              </a:rPr>
              <a:t>DA &amp; DS AUG  B</a:t>
            </a:r>
          </a:p>
        </p:txBody>
      </p:sp>
    </p:spTree>
    <p:extLst>
      <p:ext uri="{BB962C8B-B14F-4D97-AF65-F5344CB8AC3E}">
        <p14:creationId xmlns:p14="http://schemas.microsoft.com/office/powerpoint/2010/main" val="21361922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5FA8DCD-8AFB-C9DD-CA75-C87BF17B716A}"/>
              </a:ext>
            </a:extLst>
          </p:cNvPr>
          <p:cNvSpPr txBox="1"/>
          <p:nvPr/>
        </p:nvSpPr>
        <p:spPr>
          <a:xfrm>
            <a:off x="320842" y="417094"/>
            <a:ext cx="10571747" cy="58118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Arial Black" panose="020B0A04020102020204" pitchFamily="34" charset="0"/>
              </a:rPr>
              <a:t>ANALYSIS</a:t>
            </a:r>
          </a:p>
          <a:p>
            <a:endParaRPr lang="en-IN" sz="4000" dirty="0">
              <a:latin typeface="Arial Black" panose="020B0A04020102020204" pitchFamily="34" charset="0"/>
            </a:endParaRPr>
          </a:p>
          <a:p>
            <a:pPr defTabSz="914400">
              <a:spcBef>
                <a:spcPts val="2200"/>
              </a:spcBef>
              <a:buClrTx/>
              <a:buSzTx/>
              <a:defRPr/>
            </a:pPr>
            <a:r>
              <a:rPr lang="en-US" sz="4000" b="1" dirty="0">
                <a:solidFill>
                  <a:schemeClr val="tx1">
                    <a:lumMod val="95000"/>
                  </a:schemeClr>
                </a:solidFill>
                <a:latin typeface="Franklin Gothic Book"/>
              </a:rPr>
              <a:t>* Data understanding</a:t>
            </a:r>
          </a:p>
          <a:p>
            <a:pPr lvl="0" defTabSz="914400">
              <a:spcBef>
                <a:spcPts val="2200"/>
              </a:spcBef>
              <a:defRPr/>
            </a:pPr>
            <a:r>
              <a:rPr lang="en-US" sz="4000" b="1" dirty="0">
                <a:solidFill>
                  <a:schemeClr val="tx1">
                    <a:lumMod val="95000"/>
                  </a:schemeClr>
                </a:solidFill>
                <a:latin typeface="Franklin Gothic Book"/>
              </a:rPr>
              <a:t>* Data cleaning</a:t>
            </a:r>
          </a:p>
          <a:p>
            <a:pPr lvl="0" defTabSz="914400">
              <a:spcBef>
                <a:spcPts val="2200"/>
              </a:spcBef>
              <a:defRPr/>
            </a:pPr>
            <a:r>
              <a:rPr lang="en-US" sz="4000" b="1" dirty="0">
                <a:solidFill>
                  <a:schemeClr val="tx1">
                    <a:lumMod val="95000"/>
                  </a:schemeClr>
                </a:solidFill>
                <a:latin typeface="Franklin Gothic Book"/>
              </a:rPr>
              <a:t>*  Handling missing values</a:t>
            </a:r>
          </a:p>
          <a:p>
            <a:pPr lvl="0" defTabSz="914400">
              <a:spcBef>
                <a:spcPts val="2200"/>
              </a:spcBef>
              <a:defRPr/>
            </a:pPr>
            <a:r>
              <a:rPr lang="en-US" sz="4000" b="1" dirty="0">
                <a:solidFill>
                  <a:schemeClr val="tx1">
                    <a:lumMod val="95000"/>
                  </a:schemeClr>
                </a:solidFill>
                <a:latin typeface="Franklin Gothic Book"/>
              </a:rPr>
              <a:t>*  Outliers</a:t>
            </a:r>
          </a:p>
          <a:p>
            <a:pPr lvl="0" defTabSz="914400">
              <a:spcBef>
                <a:spcPts val="2200"/>
              </a:spcBef>
              <a:defRPr/>
            </a:pPr>
            <a:r>
              <a:rPr lang="en-US" sz="4000" b="1" dirty="0">
                <a:solidFill>
                  <a:schemeClr val="tx1">
                    <a:lumMod val="95000"/>
                  </a:schemeClr>
                </a:solidFill>
                <a:latin typeface="Franklin Gothic Book"/>
              </a:rPr>
              <a:t>* Data visualization</a:t>
            </a:r>
            <a:endParaRPr lang="en-US" sz="4000" dirty="0">
              <a:solidFill>
                <a:schemeClr val="tx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56585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3EF4A6-B848-BAD2-4CA9-0A89A8029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A04C6D9-74FF-365B-8F43-E8864ED2320F}"/>
              </a:ext>
            </a:extLst>
          </p:cNvPr>
          <p:cNvSpPr txBox="1"/>
          <p:nvPr/>
        </p:nvSpPr>
        <p:spPr>
          <a:xfrm>
            <a:off x="160423" y="256674"/>
            <a:ext cx="11069052" cy="686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Arial Black" panose="020B0A04020102020204" pitchFamily="34" charset="0"/>
              </a:rPr>
              <a:t>Introduction</a:t>
            </a:r>
          </a:p>
          <a:p>
            <a:r>
              <a:rPr lang="en-US" sz="4000" b="1" dirty="0">
                <a:latin typeface="Arial Black" panose="020B0A04020102020204" pitchFamily="34" charset="0"/>
              </a:rPr>
              <a:t>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The project focuses on </a:t>
            </a:r>
            <a:r>
              <a:rPr lang="en-US" sz="4000" b="1" dirty="0"/>
              <a:t>Exploratory Data Analysis (EDA)</a:t>
            </a:r>
            <a:r>
              <a:rPr lang="en-US" sz="4000" dirty="0"/>
              <a:t> of Housing to understand the key factors influencing pricing.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4000" dirty="0"/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4000" dirty="0"/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4000" dirty="0"/>
          </a:p>
          <a:p>
            <a:endParaRPr lang="en-US" sz="4000" b="1" dirty="0">
              <a:latin typeface="Arial Black" panose="020B0A04020102020204" pitchFamily="34" charset="0"/>
            </a:endParaRPr>
          </a:p>
          <a:p>
            <a:endParaRPr lang="en-US" sz="4000" b="1" dirty="0">
              <a:latin typeface="Arial Black" panose="020B0A04020102020204" pitchFamily="34" charset="0"/>
            </a:endParaRPr>
          </a:p>
          <a:p>
            <a:endParaRPr lang="en-IN" sz="40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0958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E88F49-4571-4437-B659-762567456B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D34C96D-7047-18C5-9EFA-FE6BDD91483A}"/>
              </a:ext>
            </a:extLst>
          </p:cNvPr>
          <p:cNvSpPr txBox="1"/>
          <p:nvPr/>
        </p:nvSpPr>
        <p:spPr>
          <a:xfrm>
            <a:off x="545432" y="561474"/>
            <a:ext cx="10860505" cy="77867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Arial Black" panose="020B0A04020102020204" pitchFamily="34" charset="0"/>
              </a:rPr>
              <a:t>Data Understanding</a:t>
            </a:r>
          </a:p>
          <a:p>
            <a:endParaRPr lang="en-US" sz="4000" b="1" dirty="0">
              <a:latin typeface="Arial Black" panose="020B0A04020102020204" pitchFamily="34" charset="0"/>
            </a:endParaRPr>
          </a:p>
          <a:p>
            <a:r>
              <a:rPr lang="en-US" sz="4000" dirty="0"/>
              <a:t>First in data understanding we need to import the CSV file.</a:t>
            </a:r>
          </a:p>
          <a:p>
            <a:endParaRPr lang="en-US" sz="4000" dirty="0"/>
          </a:p>
          <a:p>
            <a:pPr latinLnBrk="1"/>
            <a:r>
              <a:rPr lang="en-IN" sz="2800" dirty="0">
                <a:latin typeface="Arial Black" panose="020B0A04020102020204" pitchFamily="34" charset="0"/>
              </a:rPr>
              <a:t>The Dataset (Housing) contain date, price, bedrooms, bathrooms, </a:t>
            </a:r>
            <a:r>
              <a:rPr lang="en-IN" sz="2800" dirty="0" err="1">
                <a:latin typeface="Arial Black" panose="020B0A04020102020204" pitchFamily="34" charset="0"/>
              </a:rPr>
              <a:t>sqft_living</a:t>
            </a:r>
            <a:r>
              <a:rPr lang="en-IN" sz="2800" dirty="0">
                <a:latin typeface="Arial Black" panose="020B0A04020102020204" pitchFamily="34" charset="0"/>
              </a:rPr>
              <a:t>, </a:t>
            </a:r>
            <a:r>
              <a:rPr lang="en-IN" sz="2800" dirty="0" err="1">
                <a:latin typeface="Arial Black" panose="020B0A04020102020204" pitchFamily="34" charset="0"/>
              </a:rPr>
              <a:t>sqft_lot</a:t>
            </a:r>
            <a:r>
              <a:rPr lang="en-IN" sz="2800" dirty="0">
                <a:latin typeface="Arial Black" panose="020B0A04020102020204" pitchFamily="34" charset="0"/>
              </a:rPr>
              <a:t>,</a:t>
            </a:r>
          </a:p>
          <a:p>
            <a:pPr latinLnBrk="1"/>
            <a:r>
              <a:rPr lang="en-IN" sz="2800" dirty="0">
                <a:latin typeface="Arial Black" panose="020B0A04020102020204" pitchFamily="34" charset="0"/>
              </a:rPr>
              <a:t>floors, waterfront, view, condition, </a:t>
            </a:r>
            <a:r>
              <a:rPr lang="en-IN" sz="2800" dirty="0" err="1">
                <a:latin typeface="Arial Black" panose="020B0A04020102020204" pitchFamily="34" charset="0"/>
              </a:rPr>
              <a:t>sqft_above</a:t>
            </a:r>
            <a:r>
              <a:rPr lang="en-IN" sz="2800" dirty="0">
                <a:latin typeface="Arial Black" panose="020B0A04020102020204" pitchFamily="34" charset="0"/>
              </a:rPr>
              <a:t>,</a:t>
            </a:r>
          </a:p>
          <a:p>
            <a:pPr latinLnBrk="1"/>
            <a:r>
              <a:rPr lang="en-IN" sz="2800" dirty="0" err="1">
                <a:latin typeface="Arial Black" panose="020B0A04020102020204" pitchFamily="34" charset="0"/>
              </a:rPr>
              <a:t>sqft_basement</a:t>
            </a:r>
            <a:r>
              <a:rPr lang="en-IN" sz="2800" dirty="0">
                <a:latin typeface="Arial Black" panose="020B0A04020102020204" pitchFamily="34" charset="0"/>
              </a:rPr>
              <a:t>, </a:t>
            </a:r>
            <a:r>
              <a:rPr lang="en-IN" sz="2800" dirty="0" err="1">
                <a:latin typeface="Arial Black" panose="020B0A04020102020204" pitchFamily="34" charset="0"/>
              </a:rPr>
              <a:t>yr_built</a:t>
            </a:r>
            <a:r>
              <a:rPr lang="en-IN" sz="2800" dirty="0">
                <a:latin typeface="Arial Black" panose="020B0A04020102020204" pitchFamily="34" charset="0"/>
              </a:rPr>
              <a:t>, </a:t>
            </a:r>
            <a:r>
              <a:rPr lang="en-IN" sz="2800" dirty="0" err="1">
                <a:latin typeface="Arial Black" panose="020B0A04020102020204" pitchFamily="34" charset="0"/>
              </a:rPr>
              <a:t>yr_renovated</a:t>
            </a:r>
            <a:r>
              <a:rPr lang="en-IN" sz="2800" dirty="0">
                <a:latin typeface="Arial Black" panose="020B0A04020102020204" pitchFamily="34" charset="0"/>
              </a:rPr>
              <a:t>, street, city,</a:t>
            </a:r>
          </a:p>
          <a:p>
            <a:pPr latinLnBrk="1"/>
            <a:r>
              <a:rPr lang="en-IN" sz="2800" dirty="0" err="1">
                <a:latin typeface="Arial Black" panose="020B0A04020102020204" pitchFamily="34" charset="0"/>
              </a:rPr>
              <a:t>statezip</a:t>
            </a:r>
            <a:r>
              <a:rPr lang="en-IN" sz="2800" dirty="0">
                <a:latin typeface="Arial Black" panose="020B0A04020102020204" pitchFamily="34" charset="0"/>
              </a:rPr>
              <a:t>, country.</a:t>
            </a:r>
          </a:p>
          <a:p>
            <a:endParaRPr lang="en-US" sz="4000" dirty="0"/>
          </a:p>
          <a:p>
            <a:endParaRPr lang="en-US" sz="4000" dirty="0"/>
          </a:p>
          <a:p>
            <a:endParaRPr lang="en-US" sz="4000" b="1" dirty="0">
              <a:latin typeface="Arial Black" panose="020B0A04020102020204" pitchFamily="34" charset="0"/>
            </a:endParaRPr>
          </a:p>
          <a:p>
            <a:endParaRPr lang="en-IN" sz="40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55543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E917E8-83FD-B3CD-100B-49313EA839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B03EC26-5648-5E1E-C71E-BBC6F6CEF4BA}"/>
              </a:ext>
            </a:extLst>
          </p:cNvPr>
          <p:cNvSpPr txBox="1"/>
          <p:nvPr/>
        </p:nvSpPr>
        <p:spPr>
          <a:xfrm>
            <a:off x="248653" y="404296"/>
            <a:ext cx="11277600" cy="58230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Arial Black" panose="020B0A04020102020204" pitchFamily="34" charset="0"/>
              </a:rPr>
              <a:t>Data Cleaning</a:t>
            </a:r>
          </a:p>
          <a:p>
            <a:endParaRPr lang="en-US" sz="4000" b="1" dirty="0">
              <a:latin typeface="Arial Black" panose="020B0A040201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4000" dirty="0"/>
              <a:t>* Handling Missing Values</a:t>
            </a:r>
          </a:p>
          <a:p>
            <a:pPr>
              <a:lnSpc>
                <a:spcPct val="150000"/>
              </a:lnSpc>
            </a:pPr>
            <a:r>
              <a:rPr lang="en-US" sz="4000" dirty="0"/>
              <a:t>* Data type conversion</a:t>
            </a:r>
          </a:p>
          <a:p>
            <a:pPr>
              <a:lnSpc>
                <a:spcPct val="150000"/>
              </a:lnSpc>
            </a:pPr>
            <a:r>
              <a:rPr lang="en-US" sz="4000" dirty="0"/>
              <a:t>* Checking outliers</a:t>
            </a:r>
            <a:endParaRPr lang="en-IN" sz="4000" dirty="0"/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4000" dirty="0"/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30291889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FDE4B7-1D49-14CC-3E5D-81856C145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431F4CB-0712-28B2-5673-51ADE582D66A}"/>
              </a:ext>
            </a:extLst>
          </p:cNvPr>
          <p:cNvSpPr txBox="1"/>
          <p:nvPr/>
        </p:nvSpPr>
        <p:spPr>
          <a:xfrm>
            <a:off x="184853" y="226797"/>
            <a:ext cx="11261558" cy="93256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Arial Black" panose="020B0A04020102020204" pitchFamily="34" charset="0"/>
              </a:rPr>
              <a:t>Handling Missing values</a:t>
            </a:r>
          </a:p>
          <a:p>
            <a:endParaRPr lang="en-US" sz="4000" b="1" dirty="0">
              <a:latin typeface="Arial Black" panose="020B0A04020102020204" pitchFamily="34" charset="0"/>
            </a:endParaRPr>
          </a:p>
          <a:p>
            <a:r>
              <a:rPr lang="en-US" sz="4000" dirty="0"/>
              <a:t>* </a:t>
            </a:r>
            <a:r>
              <a:rPr lang="en-US" sz="4000" dirty="0" err="1"/>
              <a:t>Isnull</a:t>
            </a:r>
            <a:r>
              <a:rPr lang="en-US" sz="4000" dirty="0"/>
              <a:t> () function is used to find missing values in dataset.</a:t>
            </a:r>
          </a:p>
          <a:p>
            <a:endParaRPr lang="en-US" sz="4000" dirty="0"/>
          </a:p>
          <a:p>
            <a:r>
              <a:rPr lang="en-US" sz="4000" dirty="0"/>
              <a:t>* Unique () function and replace the unique values.</a:t>
            </a:r>
          </a:p>
          <a:p>
            <a:endParaRPr lang="en-US" sz="4000" dirty="0"/>
          </a:p>
          <a:p>
            <a:r>
              <a:rPr lang="en-US" sz="4000" dirty="0"/>
              <a:t>* Mean and Median is used to fill the missing values in numerical columns.</a:t>
            </a:r>
          </a:p>
          <a:p>
            <a:endParaRPr lang="en-IN" sz="4000" dirty="0"/>
          </a:p>
          <a:p>
            <a:endParaRPr lang="en-IN" sz="4000" dirty="0"/>
          </a:p>
          <a:p>
            <a:endParaRPr lang="en-US" sz="4000" b="1" dirty="0">
              <a:latin typeface="Arial Black" panose="020B0A04020102020204" pitchFamily="34" charset="0"/>
            </a:endParaRPr>
          </a:p>
          <a:p>
            <a:endParaRPr lang="en-US" sz="4000" b="1" dirty="0">
              <a:latin typeface="Arial Black" panose="020B0A04020102020204" pitchFamily="34" charset="0"/>
            </a:endParaRPr>
          </a:p>
          <a:p>
            <a:endParaRPr lang="en-IN" sz="40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85666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47D457-3C84-BEA6-D86A-5BEDA1A5E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7FEC92B-0791-B0B0-02BE-2A92DB99CDF2}"/>
              </a:ext>
            </a:extLst>
          </p:cNvPr>
          <p:cNvSpPr txBox="1"/>
          <p:nvPr/>
        </p:nvSpPr>
        <p:spPr>
          <a:xfrm>
            <a:off x="529389" y="465221"/>
            <a:ext cx="112936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Arial Black" panose="020B0A04020102020204" pitchFamily="34" charset="0"/>
              </a:rPr>
              <a:t>Converting Datatype</a:t>
            </a:r>
            <a:endParaRPr lang="en-IN" sz="4000" dirty="0">
              <a:latin typeface="Arial Black" panose="020B0A040201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568A1D-512A-9E4F-96C0-6BAB600C56C4}"/>
              </a:ext>
            </a:extLst>
          </p:cNvPr>
          <p:cNvSpPr txBox="1"/>
          <p:nvPr/>
        </p:nvSpPr>
        <p:spPr>
          <a:xfrm>
            <a:off x="385011" y="2037347"/>
            <a:ext cx="1095675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3200" dirty="0" err="1">
                <a:latin typeface="Arial Black" panose="020B0A04020102020204" pitchFamily="34" charset="0"/>
              </a:rPr>
              <a:t>Astype</a:t>
            </a:r>
            <a:r>
              <a:rPr lang="en-US" sz="3200" dirty="0">
                <a:latin typeface="Arial Black" panose="020B0A04020102020204" pitchFamily="34" charset="0"/>
              </a:rPr>
              <a:t>( int, float) is used change the datatype into int or float.</a:t>
            </a:r>
            <a:endParaRPr lang="en-IN" sz="32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51352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674013-A2DB-E154-38CE-D0187AA3F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C3AA430-4FD6-E4D7-CF85-3A61901BBAD6}"/>
              </a:ext>
            </a:extLst>
          </p:cNvPr>
          <p:cNvSpPr txBox="1"/>
          <p:nvPr/>
        </p:nvSpPr>
        <p:spPr>
          <a:xfrm>
            <a:off x="304800" y="433137"/>
            <a:ext cx="1130968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Arial Black" panose="020B0A04020102020204" pitchFamily="34" charset="0"/>
              </a:rPr>
              <a:t>Checking Outliers</a:t>
            </a:r>
          </a:p>
          <a:p>
            <a:endParaRPr lang="en-US" sz="4000" b="1" dirty="0">
              <a:latin typeface="Arial Black" panose="020B0A04020102020204" pitchFamily="34" charset="0"/>
            </a:endParaRPr>
          </a:p>
          <a:p>
            <a:endParaRPr lang="en-IN" sz="4000" dirty="0">
              <a:latin typeface="Arial Black" panose="020B0A040201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2B071B-D964-90E3-0BAA-F444835C2CC9}"/>
              </a:ext>
            </a:extLst>
          </p:cNvPr>
          <p:cNvSpPr txBox="1"/>
          <p:nvPr/>
        </p:nvSpPr>
        <p:spPr>
          <a:xfrm>
            <a:off x="802105" y="1748589"/>
            <a:ext cx="1037924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Arial Black" panose="020B0A04020102020204" pitchFamily="34" charset="0"/>
              </a:rPr>
              <a:t>Outliers are unusual values that don’t fit the general pattern of the data</a:t>
            </a:r>
            <a:endParaRPr lang="en-IN" sz="3600" dirty="0">
              <a:latin typeface="Arial Black" panose="020B0A040201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BCE27C-166E-E983-C9D3-689F1BD89A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0063" y="3176337"/>
            <a:ext cx="6277242" cy="3681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57443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70529C-B8E6-BC66-31EE-6B84981040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896BAF1-D802-8A6E-FDAB-F3E4AAA92F38}"/>
              </a:ext>
            </a:extLst>
          </p:cNvPr>
          <p:cNvSpPr txBox="1"/>
          <p:nvPr/>
        </p:nvSpPr>
        <p:spPr>
          <a:xfrm>
            <a:off x="513347" y="593558"/>
            <a:ext cx="109407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Arial Black" panose="020B0A04020102020204" pitchFamily="34" charset="0"/>
              </a:rPr>
              <a:t>Descriptive Analysis</a:t>
            </a:r>
            <a:endParaRPr lang="en-IN" sz="4000" dirty="0">
              <a:latin typeface="Arial Black" panose="020B0A040201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41A13E-46D7-5FB4-DD91-D25EABEBA9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" t="-645" r="1477" b="7027"/>
          <a:stretch>
            <a:fillRect/>
          </a:stretch>
        </p:blipFill>
        <p:spPr>
          <a:xfrm>
            <a:off x="2002640" y="2072082"/>
            <a:ext cx="6194876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77339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7B36440C-1DA7-14C1-6F28-1A6E10BB3D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578" y="2370000"/>
            <a:ext cx="9922043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Black" panose="020B0A04020102020204" pitchFamily="34" charset="0"/>
              </a:rPr>
              <a:t>Premium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Black" panose="020B0A04020102020204" pitchFamily="34" charset="0"/>
              </a:rPr>
              <a:t> property has a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Black" panose="020B0A04020102020204" pitchFamily="34" charset="0"/>
              </a:rPr>
              <a:t>waterfront</a:t>
            </a:r>
            <a:r>
              <a:rPr lang="en-US" altLang="en-US" sz="2400" dirty="0">
                <a:latin typeface="Arial Black" panose="020B0A04020102020204" pitchFamily="34" charset="0"/>
              </a:rPr>
              <a:t> have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Black" panose="020B0A04020102020204" pitchFamily="34" charset="0"/>
              </a:rPr>
              <a:t> major price premium.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Black" panose="020B0A040201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Black" panose="020B0A04020102020204" pitchFamily="34" charset="0"/>
              </a:rPr>
              <a:t>Investing in renovations or repairs to achieve a higher sale price. </a:t>
            </a:r>
            <a:endParaRPr lang="en-US" altLang="en-US" sz="2400" dirty="0">
              <a:latin typeface="Arial Black" panose="020B0A040201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sz="2400" b="1" dirty="0">
              <a:latin typeface="Arial Black" panose="020B0A040201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2400" b="1" dirty="0">
                <a:latin typeface="Arial Black" panose="020B0A04020102020204" pitchFamily="34" charset="0"/>
              </a:rPr>
              <a:t>Properties that most influence the sales price</a:t>
            </a:r>
            <a:r>
              <a:rPr lang="en-US" sz="2400" dirty="0">
                <a:latin typeface="Arial Black" panose="020B0A04020102020204" pitchFamily="34" charset="0"/>
              </a:rPr>
              <a:t> is square feet.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Black" panose="020B0A040201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96611A-7420-A7B8-BE7A-D105B5CFD228}"/>
              </a:ext>
            </a:extLst>
          </p:cNvPr>
          <p:cNvSpPr txBox="1"/>
          <p:nvPr/>
        </p:nvSpPr>
        <p:spPr>
          <a:xfrm>
            <a:off x="419450" y="696286"/>
            <a:ext cx="55535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Arial Black" panose="020B0A04020102020204" pitchFamily="34" charset="0"/>
              </a:rPr>
              <a:t>RECOMMENDATION</a:t>
            </a:r>
            <a:endParaRPr lang="en-IN" sz="36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4910874"/>
      </p:ext>
    </p:extLst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239</TotalTime>
  <Words>239</Words>
  <Application>Microsoft Office PowerPoint</Application>
  <PresentationFormat>Widescreen</PresentationFormat>
  <Paragraphs>53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Arial Black</vt:lpstr>
      <vt:lpstr>Century Gothic</vt:lpstr>
      <vt:lpstr>Franklin Gothic Book</vt:lpstr>
      <vt:lpstr>Wingdings</vt:lpstr>
      <vt:lpstr>Wingdings 3</vt:lpstr>
      <vt:lpstr>Slice</vt:lpstr>
      <vt:lpstr>PYTHON REINFORSEMENT PROJECT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ARUNBALAJE MV</dc:creator>
  <cp:lastModifiedBy>ARUNBALAJE MV</cp:lastModifiedBy>
  <cp:revision>2</cp:revision>
  <dcterms:created xsi:type="dcterms:W3CDTF">2025-12-08T14:07:29Z</dcterms:created>
  <dcterms:modified xsi:type="dcterms:W3CDTF">2026-01-28T05:12:34Z</dcterms:modified>
</cp:coreProperties>
</file>